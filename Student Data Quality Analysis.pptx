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8" r:id="rId4"/>
    <p:sldId id="257" r:id="rId5"/>
    <p:sldId id="259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73723" autoAdjust="0"/>
  </p:normalViewPr>
  <p:slideViewPr>
    <p:cSldViewPr snapToGrid="0">
      <p:cViewPr varScale="1">
        <p:scale>
          <a:sx n="81" d="100"/>
          <a:sy n="81" d="100"/>
        </p:scale>
        <p:origin x="17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3A8D5-F32E-4FA6-A9A8-B6555B07B0BD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9B542-A9A1-431F-8463-857E0ABC6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67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 used AI tooling in 3 ways: 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/>
              <a:t>To generate the synthetic dataset, so I had realistic student records with seeded data issues.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/>
              <a:t>I used it as a sounding board to help me think through the structure of the analysis.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/>
              <a:t>I also used it to get up to speed on the HE context — understanding how HESA returns work, what the regulatory stakes are, the kind of systems a university typically runs. Background knowledge I didn't have going in.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dirty="0"/>
              <a:t>My data was in 3 CSVs, one per system. I loaded each into DUCKDB as a table and ran the analysis from there.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GB" dirty="0"/>
              <a:t>Through my research I learned that – read from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343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So the first group of people we have are IT/System owner, they will be able to provide information about system architecture, data flows and arrange access to the data. They will also be able to answer Qs like – read from slide – which comes up later in the task.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next group are the reg/AA , these are people using the systems day in and day out, and therefore have a good understanding of known issues and workarounds. They will also we able to explain what the fields mean In practise.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Next, we have the BI/R team, they will be able to highlight where discrepancies in the data have already been flagged, and importantly, what decisions the data drives.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Moving onto documentation – These represent a written record of what the data means, how it's structured, how it flows, and what's already known to be wrong.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Entity Relationship Diagram.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Finally, senior stakeholders tell you why the transformation is happening, and what success looks like from a data perspective.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296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Whilst examining the structure of the data landscape, I discovered that – read slide (intro line)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From the left hand screenshot we can see that each system has a different row count, meaning that they disagree on how many students there are. They should be covering the same population but aren’t.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field inventory on the right shows there is no common identifier across all 3 systems. Meaning you cannot easily join the tables to find out why the counts differ.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So to summarise – read last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100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Nulls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first thing I did was run null checks (If asked explain SQL, count(*) - count(col)). I found – read slide.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more interesting finding from the null checks was the 564 nulls in account status. We can see from this query that active students have a valid </a:t>
            </a:r>
            <a:r>
              <a:rPr lang="en-GB" dirty="0" err="1"/>
              <a:t>last_login</a:t>
            </a:r>
            <a:r>
              <a:rPr lang="en-GB" dirty="0"/>
              <a:t>, and inactive students have a null </a:t>
            </a:r>
            <a:r>
              <a:rPr lang="en-GB" dirty="0" err="1"/>
              <a:t>last_login</a:t>
            </a:r>
            <a:r>
              <a:rPr lang="en-GB" dirty="0"/>
              <a:t>. But 504 of the </a:t>
            </a:r>
            <a:r>
              <a:rPr lang="en-GB" dirty="0" err="1"/>
              <a:t>account_status</a:t>
            </a:r>
            <a:r>
              <a:rPr lang="en-GB" dirty="0"/>
              <a:t> nulls also have a valid </a:t>
            </a:r>
            <a:r>
              <a:rPr lang="en-GB" dirty="0" err="1"/>
              <a:t>last_login</a:t>
            </a:r>
            <a:r>
              <a:rPr lang="en-GB" dirty="0"/>
              <a:t>, meaning students had used the system, but not been assigned a status. – Should students who have logged in have an account status assigned? Ask registrar or system owner.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Value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field inventory showed that all 3 systems track student status, we need to explore if these are equivalent by looking at the value distributions. I found that – read slide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Dupes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last thing I checked during this phase was duplicates – I found that – read slide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If asked – the two duplicate checks were: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Duplicate IDs - same ID assigned to different people, an ID collision.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Same person, different IDs — one person appearing multiple times under different identifiers. That's what your 76 SRS records are — same name and DOB, suggesting the same individual entered more than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972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With the within-system analysis done, the next step was to look across systems to understand whether they could be reliably linked for further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Read slide.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But matching on numeric ID alone only confirms the numbers align - it doesn't prove the records belong to the same person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 found population gaps in SRS and Finance tables. We know that SRS has 15075 rows, and Finance has 15450 rows. Yet the join only found 15k matching IDs. Therefore - read slide.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934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Moving onto the root cause investigation, I choose this example because there were 2 population gaps.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Read from slide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These are unlikely to be causing an active problem for current students, which is why it has been flagged as lower priority in the issues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If asked about the query – I took the Finance table and LEFT joined SRS on the stripped IDs and filtered to select the records in Finance but not in SRS. All 450 had enrolment = inactive.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second population gap was investigated in the same manner – read from screen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Are these students actually enrolled and attending classes without any payment history?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256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Moving onto outputs and recommendations – this table show what I would expect to be producing.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An issue register, which can be found on the next slide. – read description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proposed next steps from my side would be to – read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557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issue register captures all 11 findings, categorised by type, scaled by volume, and prioritised.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9B542-A9A1-431F-8463-857E0ABC60E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3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233F-2A33-F044-C82A-7F0B57670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B3F8A-85F8-A226-C38C-B14EEAF90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C63A-3CA5-839C-35B8-37A93D894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331C8-3FB3-AC6D-367D-D5B2AB05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8B30B-0C5B-689F-7E6F-81161673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42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535A-D470-D033-69FA-21E67FD4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D090-7B88-BDCF-BD38-7CCA6D18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0AC6-2177-E43B-5091-04B136846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5FBB-4C15-26F1-5979-00205BE3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5AF08-3F80-394C-EE0C-356A60EA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84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E6AF-2157-309B-7936-32D1A16C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F298-6000-A16F-5A4E-0C49B9B52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07FA4-0514-512D-A073-4B910C25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B59BD-07BC-256D-4BEA-736F8808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32BCB-5421-8D9A-8D01-E145BB0F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65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C924-47D6-8888-D579-2830E1C6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A186-5AD0-6E79-9684-8925D2250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D50FC-6F75-073C-A739-0CBF4F739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2D2E5-93F8-EA92-6270-B6F047C4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B6718-FAA0-9E9E-05B9-8C013BE6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58AEE-C6D6-79CD-41AF-77D51840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26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4B19-4015-9F6C-F651-C07F474D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99D9C-66ED-8BB9-100A-8B53E7BC8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DA631-B479-A686-12EA-B68AAB08B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0B431-CCDF-FD86-7DDF-34E13D0FA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DC92D-85F2-DEC9-842B-F9C54C72E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4C7D7-BA75-363D-4050-D802323B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D3D2C-71A0-ECCA-231B-1468622DC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A586C-461B-8D9D-2BDD-41FBFC1D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163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D71B-3636-3B1D-EC9C-06A53D24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61949-F110-5AD4-FE66-4C11BCA33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67C77-8B50-BB39-5F07-D8E6851C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FABDF-5016-AA7A-5A13-AFA79AD0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35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D0074-6F72-62B5-7515-2D556C87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D4821-1A6A-018B-A6ED-663080DC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EDD78-1B80-2250-E4C3-F577DF27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6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B271-A53D-82B3-92F7-7D9D48AC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3581-69EB-11B4-A444-80BB390E0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E9FD0-9EF2-6E27-1F4B-7D708051B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D73D1-4941-1C7B-7038-B6AA1E96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6F93B-7B21-242F-5EE6-EE556E9A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0E225-F2EB-77BC-FA5E-838E8983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97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0ED5-F0A3-5AA1-2F97-DC1B00EA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E3A11-93B6-2E1F-CCF1-FC1FAD08E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56555-C287-81A5-BBE2-5C2D28A12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B1AED-2BCC-BDE2-653B-6C198206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C3AE5-518E-E0D7-A2C0-522F86B8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FF355-E7C1-F8B6-6717-DD7835A9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37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C6DF-CEB3-FA6B-C504-8C945BF8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DEFDC-806B-6B87-D525-997415712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495BF-E925-512E-ADBC-715C8B43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B37BC-521A-AF1F-05E5-5C488FBBC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3216F-FED2-A996-A314-E081A590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53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3B9CB-0FFC-1555-1022-ADCBF1743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81378-B370-DF2A-08CE-5EE8D7D87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2A897-1E9E-9B93-426F-D05A77FF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D55B2-A669-4470-AA09-E8FC387B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B302E-3261-F1D4-3128-4B2D2952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48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565879-0275-39B6-5185-6F0C9138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8F1B0-F5E6-757A-CDD0-5F9570D86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75644-7544-DB58-6C64-373CA319A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C0605-E239-4534-802E-E48F42481639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01803-63E8-4699-E4A0-1EE58DC19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D13B1-EBFB-59F7-8400-107D83C93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E15BC-DDA1-48A6-9D3E-5BD784DEB7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13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1D0A-14D6-0B51-6D53-D646A1E37C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Supporting the First Phase of Analysis - Student Data Quality</a:t>
            </a:r>
          </a:p>
        </p:txBody>
      </p:sp>
    </p:spTree>
    <p:extLst>
      <p:ext uri="{BB962C8B-B14F-4D97-AF65-F5344CB8AC3E}">
        <p14:creationId xmlns:p14="http://schemas.microsoft.com/office/powerpoint/2010/main" val="78151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CE85-648F-A0CB-7F02-C8968B5F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/>
              <a:t>Approach &amp;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1C9F-0C89-4330-555F-DC94A65E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brief: data quality assessment ahead of a system transformation.</a:t>
            </a:r>
          </a:p>
          <a:p>
            <a:r>
              <a:rPr lang="en-GB" dirty="0"/>
              <a:t>Approach: </a:t>
            </a:r>
          </a:p>
          <a:p>
            <a:pPr lvl="1"/>
            <a:r>
              <a:rPr lang="en-GB" dirty="0"/>
              <a:t>Guided learning exercise - no prior HE or student data experience. </a:t>
            </a:r>
          </a:p>
          <a:p>
            <a:pPr lvl="1"/>
            <a:r>
              <a:rPr lang="en-GB" dirty="0"/>
              <a:t>Used AI tooling to build a synthetic dataset and to help structure the analysis. </a:t>
            </a:r>
          </a:p>
          <a:p>
            <a:pPr lvl="1"/>
            <a:r>
              <a:rPr lang="en-GB" dirty="0"/>
              <a:t>Goal: demonstrate my framework and how I'd communicate findings.</a:t>
            </a:r>
          </a:p>
          <a:p>
            <a:r>
              <a:rPr lang="en-GB" dirty="0"/>
              <a:t>Analysis performed using </a:t>
            </a:r>
            <a:r>
              <a:rPr lang="en-GB" dirty="0" err="1"/>
              <a:t>DuckDB</a:t>
            </a:r>
            <a:r>
              <a:rPr lang="en-GB" dirty="0"/>
              <a:t> and SQL (CSVs -&gt; </a:t>
            </a:r>
            <a:r>
              <a:rPr lang="en-GB" dirty="0" err="1"/>
              <a:t>DuckDB</a:t>
            </a:r>
            <a:r>
              <a:rPr lang="en-GB" dirty="0"/>
              <a:t>).</a:t>
            </a:r>
          </a:p>
          <a:p>
            <a:r>
              <a:rPr lang="en-GB" dirty="0"/>
              <a:t>Data quality issues have direct regulatory consequences – student records feed into HESA returns (mandatory), these affect funding and compliance with the Office for Students.</a:t>
            </a:r>
          </a:p>
        </p:txBody>
      </p:sp>
    </p:spTree>
    <p:extLst>
      <p:ext uri="{BB962C8B-B14F-4D97-AF65-F5344CB8AC3E}">
        <p14:creationId xmlns:p14="http://schemas.microsoft.com/office/powerpoint/2010/main" val="1065647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7B21-6F03-31C8-7C0A-5CE8773E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691" y="249382"/>
            <a:ext cx="10898910" cy="979055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1. Information Gathering &amp; Stakeholder Engagement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3683F3-C039-C478-D361-1F90FD37E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11305"/>
              </p:ext>
            </p:extLst>
          </p:nvPr>
        </p:nvGraphicFramePr>
        <p:xfrm>
          <a:off x="217055" y="1754540"/>
          <a:ext cx="11730182" cy="4669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2497">
                  <a:extLst>
                    <a:ext uri="{9D8B030D-6E8A-4147-A177-3AD203B41FA5}">
                      <a16:colId xmlns:a16="http://schemas.microsoft.com/office/drawing/2014/main" val="1708042483"/>
                    </a:ext>
                  </a:extLst>
                </a:gridCol>
                <a:gridCol w="8527685">
                  <a:extLst>
                    <a:ext uri="{9D8B030D-6E8A-4147-A177-3AD203B41FA5}">
                      <a16:colId xmlns:a16="http://schemas.microsoft.com/office/drawing/2014/main" val="3242831564"/>
                    </a:ext>
                  </a:extLst>
                </a:gridCol>
              </a:tblGrid>
              <a:tr h="299366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What to gather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8110"/>
                  </a:ext>
                </a:extLst>
              </a:tr>
              <a:tr h="687293">
                <a:tc>
                  <a:txBody>
                    <a:bodyPr/>
                    <a:lstStyle/>
                    <a:p>
                      <a:r>
                        <a:rPr lang="en-GB" dirty="0"/>
                        <a:t>IT / System Owners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architecture, data flows, access arrangements. Key question: do systems share a common student identifier?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666460"/>
                  </a:ext>
                </a:extLst>
              </a:tr>
              <a:tr h="687293">
                <a:tc>
                  <a:txBody>
                    <a:bodyPr/>
                    <a:lstStyle/>
                    <a:p>
                      <a:r>
                        <a:rPr lang="en-GB" dirty="0"/>
                        <a:t>Registrar / Academic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What each field means in practice, known issues, existing workarounds.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89781"/>
                  </a:ext>
                </a:extLst>
              </a:tr>
              <a:tr h="687293">
                <a:tc>
                  <a:txBody>
                    <a:bodyPr/>
                    <a:lstStyle/>
                    <a:p>
                      <a:r>
                        <a:rPr lang="en-GB" dirty="0"/>
                        <a:t>BI / Reporting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Existing reports, where discrepancies have already been flagged, what decisions the data drives.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568156"/>
                  </a:ext>
                </a:extLst>
              </a:tr>
              <a:tr h="1218663">
                <a:tc>
                  <a:txBody>
                    <a:bodyPr/>
                    <a:lstStyle/>
                    <a:p>
                      <a:r>
                        <a:rPr lang="en-GB" dirty="0"/>
                        <a:t>Documentation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Data dictionaries - defines what each field means and what values are valid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ERDs / data models - shows how tables and systems relate to each other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Process maps - how data gets created and updated, and by whom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Previous audit findings - any prior data quality work, so you're not starting from scratch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01459"/>
                  </a:ext>
                </a:extLst>
              </a:tr>
              <a:tr h="687293">
                <a:tc>
                  <a:txBody>
                    <a:bodyPr/>
                    <a:lstStyle/>
                    <a:p>
                      <a:r>
                        <a:rPr lang="en-GB" dirty="0"/>
                        <a:t>Senior Stakeholders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Transformation goals, definition of "good data", regulatory deadlines (e.g. HESA return date).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1931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EF21597-627A-A633-D9A2-722C1D619EBF}"/>
              </a:ext>
            </a:extLst>
          </p:cNvPr>
          <p:cNvSpPr txBox="1"/>
          <p:nvPr/>
        </p:nvSpPr>
        <p:spPr>
          <a:xfrm>
            <a:off x="230909" y="6423952"/>
            <a:ext cx="11730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With this foundation in place, the data landscape can be mapped and profiling can begin.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F8212-5F85-5619-B897-7C1D690F1BA4}"/>
              </a:ext>
            </a:extLst>
          </p:cNvPr>
          <p:cNvSpPr txBox="1"/>
          <p:nvPr/>
        </p:nvSpPr>
        <p:spPr>
          <a:xfrm>
            <a:off x="244763" y="1046654"/>
            <a:ext cx="11499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Before any analysis begins, the right information needs to be in place. This covers who to engage and what to gather.</a:t>
            </a:r>
          </a:p>
        </p:txBody>
      </p:sp>
    </p:spTree>
    <p:extLst>
      <p:ext uri="{BB962C8B-B14F-4D97-AF65-F5344CB8AC3E}">
        <p14:creationId xmlns:p14="http://schemas.microsoft.com/office/powerpoint/2010/main" val="150495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362C-CB32-7386-0C4B-D6D3E124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/>
              <a:t>2. Understanding the Data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D1148-57C1-CEB7-5F1A-1448BCFB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069" y="1253332"/>
            <a:ext cx="7074031" cy="1075090"/>
          </a:xfrm>
        </p:spPr>
        <p:txBody>
          <a:bodyPr>
            <a:normAutofit/>
          </a:bodyPr>
          <a:lstStyle/>
          <a:p>
            <a:r>
              <a:rPr lang="en-GB" sz="2000" dirty="0"/>
              <a:t>Three systems hold student data across the university, each with different structures, field names, and record counts.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7B7A4-7E3D-6F2A-ED49-15E1540D9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10" y="2424824"/>
            <a:ext cx="2709570" cy="2104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B577D3-1E3E-B6B0-D21A-D92CFBCBD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759" y="539329"/>
            <a:ext cx="3800331" cy="58515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8F5D5-81AC-B539-A6B2-1E7D7A457537}"/>
              </a:ext>
            </a:extLst>
          </p:cNvPr>
          <p:cNvSpPr txBox="1"/>
          <p:nvPr/>
        </p:nvSpPr>
        <p:spPr>
          <a:xfrm>
            <a:off x="886120" y="5420412"/>
            <a:ext cx="666475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Differing row counts and no common identifier suggested data quality issues before any profiling had begun.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E86EC0-6CEF-E668-04A9-7B5114660E0A}"/>
              </a:ext>
            </a:extLst>
          </p:cNvPr>
          <p:cNvSpPr txBox="1"/>
          <p:nvPr/>
        </p:nvSpPr>
        <p:spPr>
          <a:xfrm>
            <a:off x="3760312" y="2578895"/>
            <a:ext cx="3580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System row counts - immediate discrepancy across all three systems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F490959-0087-D4D2-B723-AD9E180174F4}"/>
              </a:ext>
            </a:extLst>
          </p:cNvPr>
          <p:cNvSpPr/>
          <p:nvPr/>
        </p:nvSpPr>
        <p:spPr>
          <a:xfrm rot="10800000">
            <a:off x="3185768" y="2740477"/>
            <a:ext cx="345256" cy="323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936061-669D-B8D9-37CC-86A9C489ED7D}"/>
              </a:ext>
            </a:extLst>
          </p:cNvPr>
          <p:cNvSpPr txBox="1"/>
          <p:nvPr/>
        </p:nvSpPr>
        <p:spPr>
          <a:xfrm>
            <a:off x="3760312" y="3761860"/>
            <a:ext cx="3580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Field inventory - different identifier fields, no shared key, varying levels of data richness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F23700C-6149-872C-F2F3-27F0BC29E185}"/>
              </a:ext>
            </a:extLst>
          </p:cNvPr>
          <p:cNvSpPr/>
          <p:nvPr/>
        </p:nvSpPr>
        <p:spPr>
          <a:xfrm>
            <a:off x="7397586" y="4108108"/>
            <a:ext cx="345256" cy="323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2530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9AEC-E905-4557-720D-0BC9A829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292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3a. Identifying &amp; Categorising Data Quality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067E-4464-0362-C79D-18C8B8594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08" y="1671783"/>
            <a:ext cx="7108341" cy="5051925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Null Checks - 1,347 null last login dates in the LMS system. 1287 mapped to Inactive accounts - every Inactive student had a null login date, and every Active student had a valid one, suggesting this may be by design rather than a data quality issue.</a:t>
            </a:r>
          </a:p>
          <a:p>
            <a:r>
              <a:rPr lang="en-GB" sz="2000" dirty="0"/>
              <a:t>564 records had null </a:t>
            </a:r>
            <a:r>
              <a:rPr lang="en-GB" sz="2000" dirty="0" err="1"/>
              <a:t>account_status</a:t>
            </a:r>
            <a:r>
              <a:rPr lang="en-GB" sz="2000" dirty="0"/>
              <a:t> - yet 504 of these had login history, suggesting students who accessed the system were never assigned a status.</a:t>
            </a:r>
          </a:p>
          <a:p>
            <a:endParaRPr lang="en-GB" sz="2000" dirty="0"/>
          </a:p>
          <a:p>
            <a:r>
              <a:rPr lang="en-GB" sz="2000" dirty="0"/>
              <a:t>Value Distributions – The systems use different field names and labels - SRS uses Active/Withdrawn, Finance uses Enrolled/Inactive. LMS uses </a:t>
            </a:r>
            <a:r>
              <a:rPr lang="en-GB" sz="2000" dirty="0" err="1"/>
              <a:t>account_status</a:t>
            </a:r>
            <a:r>
              <a:rPr lang="en-GB" sz="2000" dirty="0"/>
              <a:t> rather than </a:t>
            </a:r>
            <a:r>
              <a:rPr lang="en-GB" sz="2000" dirty="0" err="1"/>
              <a:t>enrolment_status</a:t>
            </a:r>
            <a:r>
              <a:rPr lang="en-GB" sz="2000" dirty="0"/>
              <a:t>, which is binary, and appears to be tracking a separate concept entirely. Equivalence could </a:t>
            </a:r>
            <a:r>
              <a:rPr lang="en-GB" sz="2000" spc="100" dirty="0"/>
              <a:t>not</a:t>
            </a:r>
            <a:r>
              <a:rPr lang="en-GB" sz="2000" dirty="0"/>
              <a:t> be confirmed without stakeholder input.</a:t>
            </a:r>
          </a:p>
          <a:p>
            <a:r>
              <a:rPr lang="en-GB" sz="2000" dirty="0"/>
              <a:t>Duplicate Checks - 76 students in SRS share a name and date of birth with another record - root cause unknown; could be migration artefacts or data entry errors.</a:t>
            </a:r>
          </a:p>
          <a:p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9BC74-7563-4E18-D964-83FD99BD7250}"/>
              </a:ext>
            </a:extLst>
          </p:cNvPr>
          <p:cNvSpPr txBox="1"/>
          <p:nvPr/>
        </p:nvSpPr>
        <p:spPr>
          <a:xfrm>
            <a:off x="230909" y="988366"/>
            <a:ext cx="4285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Data Understanding — Quality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006ACA-EF10-4AD1-B745-B50D7050C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348" y="988366"/>
            <a:ext cx="4067743" cy="1705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D8C14F-9B05-B2C3-0F63-777B6C720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846" y="3313282"/>
            <a:ext cx="2800741" cy="341042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CD8640-A341-9C7F-5EC1-EB5CCAC31A76}"/>
              </a:ext>
            </a:extLst>
          </p:cNvPr>
          <p:cNvSpPr/>
          <p:nvPr/>
        </p:nvSpPr>
        <p:spPr>
          <a:xfrm>
            <a:off x="7299676" y="4356474"/>
            <a:ext cx="345256" cy="323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286DE77-D81B-04E2-91F7-F0C062C3CB7B}"/>
              </a:ext>
            </a:extLst>
          </p:cNvPr>
          <p:cNvSpPr/>
          <p:nvPr/>
        </p:nvSpPr>
        <p:spPr>
          <a:xfrm>
            <a:off x="7237649" y="1989241"/>
            <a:ext cx="345256" cy="323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598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E7AA-9F99-CCD0-1CA7-F4497935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35" y="1030144"/>
            <a:ext cx="3567547" cy="7078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+mn-lt"/>
              </a:rPr>
              <a:t>Cross-System Analysis</a:t>
            </a:r>
            <a:br>
              <a:rPr lang="en-GB" sz="2400" b="1" dirty="0"/>
            </a:b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9ABA1-07B6-296E-7D3E-F717147DD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9" y="1551710"/>
            <a:ext cx="8084127" cy="5190546"/>
          </a:xfrm>
        </p:spPr>
        <p:txBody>
          <a:bodyPr>
            <a:normAutofit fontScale="92500"/>
          </a:bodyPr>
          <a:lstStyle/>
          <a:p>
            <a:r>
              <a:rPr lang="en-GB" sz="2400" dirty="0"/>
              <a:t>Sampling ID formats across systems revealed each used a different identifier and prefix - SRS00001, FIN00001, s00001.</a:t>
            </a:r>
          </a:p>
          <a:p>
            <a:r>
              <a:rPr lang="en-GB" sz="2400" dirty="0"/>
              <a:t>Linkage was achieved by stripping prefixes and matching on the numeric component.</a:t>
            </a:r>
          </a:p>
          <a:p>
            <a:r>
              <a:rPr lang="en-GB" sz="2400" dirty="0"/>
              <a:t>To validate the join, I checked that shared fields - first name, last name, and date of birth - agreed across all 15,000 matched records. All three matched 100%, confirming the ID linkage is reliable.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Population Gaps:</a:t>
            </a:r>
          </a:p>
          <a:p>
            <a:r>
              <a:rPr lang="en-GB" sz="2400" dirty="0"/>
              <a:t>SRS has 15,075 rows. Finance has 15,450 rows.</a:t>
            </a:r>
          </a:p>
          <a:p>
            <a:r>
              <a:rPr lang="en-GB" sz="2400" dirty="0"/>
              <a:t>Cross-system matching found 15,000 IDs present in both systems.</a:t>
            </a:r>
          </a:p>
          <a:p>
            <a:r>
              <a:rPr lang="en-GB" sz="2400" dirty="0"/>
              <a:t>Therefore: 450 Finance records have no SRS match, and 75 SRS records have no Finance match.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81605-DEA2-7DCD-1AA1-63D6DA050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802" y="854654"/>
            <a:ext cx="2789163" cy="581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6CF6E5-651F-B2F7-13FD-D4601E50095C}"/>
              </a:ext>
            </a:extLst>
          </p:cNvPr>
          <p:cNvSpPr txBox="1"/>
          <p:nvPr/>
        </p:nvSpPr>
        <p:spPr>
          <a:xfrm>
            <a:off x="514927" y="191509"/>
            <a:ext cx="1069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3b. Identifying &amp; Categorising Data Quality Issues</a:t>
            </a:r>
            <a:endParaRPr lang="en-GB" sz="4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1D63026-5EA4-BC29-7A34-44E07F50F3BB}"/>
              </a:ext>
            </a:extLst>
          </p:cNvPr>
          <p:cNvSpPr/>
          <p:nvPr/>
        </p:nvSpPr>
        <p:spPr>
          <a:xfrm>
            <a:off x="8340436" y="1915350"/>
            <a:ext cx="345256" cy="323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33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FC09-3D31-4BDE-66B2-FA821D93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27" y="112134"/>
            <a:ext cx="10515600" cy="956831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4. Root Cause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034EE-14BC-40FC-09E7-8F2A5AC9E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37697"/>
            <a:ext cx="7012709" cy="4351338"/>
          </a:xfrm>
        </p:spPr>
        <p:txBody>
          <a:bodyPr>
            <a:normAutofit/>
          </a:bodyPr>
          <a:lstStyle/>
          <a:p>
            <a:r>
              <a:rPr lang="en-GB" sz="2000" dirty="0"/>
              <a:t>After examining the 450 Finance records not present in SRS, all 450 had an enrolment status of Inactive. These may be:</a:t>
            </a:r>
          </a:p>
          <a:p>
            <a:pPr lvl="1"/>
            <a:r>
              <a:rPr lang="en-GB" sz="2000" dirty="0"/>
              <a:t>Records that were deactivated in SRS but never removed from Finance. </a:t>
            </a:r>
          </a:p>
          <a:p>
            <a:pPr lvl="1"/>
            <a:r>
              <a:rPr lang="en-GB" sz="2000" dirty="0"/>
              <a:t>Records added to Finance directly that never made it into SRS.</a:t>
            </a:r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r>
              <a:rPr lang="en-GB" sz="2000" dirty="0"/>
              <a:t>After examining the 75 SRS records not present in Finance, the majority (65) had an enrolment status of Active – These may be current students who should have a finance record but don’t, making this the higher priority finding.</a:t>
            </a:r>
          </a:p>
          <a:p>
            <a:pPr marL="457200" lvl="1" indent="0">
              <a:buNone/>
            </a:pP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B7E6E-AD9E-728C-06F9-295806165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438" y="1437697"/>
            <a:ext cx="3400200" cy="164363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35F4859-5DC2-6659-F45E-D7ED34178632}"/>
              </a:ext>
            </a:extLst>
          </p:cNvPr>
          <p:cNvSpPr/>
          <p:nvPr/>
        </p:nvSpPr>
        <p:spPr>
          <a:xfrm>
            <a:off x="7444509" y="1936350"/>
            <a:ext cx="345256" cy="323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284723-64EF-E1A8-162E-A5B93E762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438" y="3298112"/>
            <a:ext cx="3400200" cy="2613161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EAB26027-1093-40DE-18B1-31DDAE2D07C9}"/>
              </a:ext>
            </a:extLst>
          </p:cNvPr>
          <p:cNvSpPr/>
          <p:nvPr/>
        </p:nvSpPr>
        <p:spPr>
          <a:xfrm>
            <a:off x="7444509" y="4275319"/>
            <a:ext cx="345256" cy="3231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09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BF66-F846-64BE-6F3A-16C11299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/>
              <a:t>5. Outputs &amp; Recommendations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0314F2-CC0A-1A49-5776-427409E5B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051594"/>
              </p:ext>
            </p:extLst>
          </p:nvPr>
        </p:nvGraphicFramePr>
        <p:xfrm>
          <a:off x="838200" y="1690688"/>
          <a:ext cx="10515600" cy="2799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63888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6728359"/>
                    </a:ext>
                  </a:extLst>
                </a:gridCol>
              </a:tblGrid>
              <a:tr h="604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611645"/>
                  </a:ext>
                </a:extLst>
              </a:tr>
              <a:tr h="6048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Issue Register 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Structured log of all DQ findings — categorised, scaled, and prioritised.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329504"/>
                  </a:ext>
                </a:extLst>
              </a:tr>
              <a:tr h="604874">
                <a:tc>
                  <a:txBody>
                    <a:bodyPr/>
                    <a:lstStyle/>
                    <a:p>
                      <a:r>
                        <a:rPr lang="en-GB" dirty="0"/>
                        <a:t>Initial findings summary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Short brief for senior stakeholders on the scale and nature of the issues.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578291"/>
                  </a:ext>
                </a:extLst>
              </a:tr>
              <a:tr h="604874">
                <a:tc>
                  <a:txBody>
                    <a:bodyPr/>
                    <a:lstStyle/>
                    <a:p>
                      <a:r>
                        <a:rPr lang="en-GB" dirty="0"/>
                        <a:t>Recommended next steps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Escalate the high priority findings and flag the items that need stakeholder confirmation before any action is taken.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50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45A1-0CB5-B8D5-8632-C56F59876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36" y="198871"/>
            <a:ext cx="10515600" cy="48462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Issue Register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EC54C-B95F-8522-3C42-687ADD978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3"/>
          <a:stretch>
            <a:fillRect/>
          </a:stretch>
        </p:blipFill>
        <p:spPr>
          <a:xfrm>
            <a:off x="0" y="1027906"/>
            <a:ext cx="12192000" cy="555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4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1759</Words>
  <Application>Microsoft Office PowerPoint</Application>
  <PresentationFormat>Widescreen</PresentationFormat>
  <Paragraphs>118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Supporting the First Phase of Analysis - Student Data Quality</vt:lpstr>
      <vt:lpstr>Approach &amp; Context</vt:lpstr>
      <vt:lpstr>1. Information Gathering &amp; Stakeholder Engagement</vt:lpstr>
      <vt:lpstr>2. Understanding the Data Landscape</vt:lpstr>
      <vt:lpstr>3a. Identifying &amp; Categorising Data Quality Issues</vt:lpstr>
      <vt:lpstr>Cross-System Analysis </vt:lpstr>
      <vt:lpstr>4. Root Cause Investigation</vt:lpstr>
      <vt:lpstr>5. Outputs &amp; Recommendations</vt:lpstr>
      <vt:lpstr>Issue Register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 Watkins-Smith</dc:creator>
  <cp:lastModifiedBy>Dom Watkins-Smith</cp:lastModifiedBy>
  <cp:revision>46</cp:revision>
  <dcterms:created xsi:type="dcterms:W3CDTF">2026-05-29T17:05:37Z</dcterms:created>
  <dcterms:modified xsi:type="dcterms:W3CDTF">2026-06-16T12:26:57Z</dcterms:modified>
</cp:coreProperties>
</file>